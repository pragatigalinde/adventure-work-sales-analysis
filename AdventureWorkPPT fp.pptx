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00" r:id="rId1"/>
  </p:sldMasterIdLst>
  <p:sldIdLst>
    <p:sldId id="257" r:id="rId2"/>
    <p:sldId id="266" r:id="rId3"/>
    <p:sldId id="258" r:id="rId4"/>
    <p:sldId id="265" r:id="rId5"/>
    <p:sldId id="267" r:id="rId6"/>
    <p:sldId id="268" r:id="rId7"/>
    <p:sldId id="269" r:id="rId8"/>
    <p:sldId id="259" r:id="rId9"/>
    <p:sldId id="260" r:id="rId10"/>
    <p:sldId id="261" r:id="rId11"/>
    <p:sldId id="262" r:id="rId12"/>
    <p:sldId id="263" r:id="rId13"/>
    <p:sldId id="264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AAF4-B881-47EE-B041-D38DE0F69021}" type="datetimeFigureOut">
              <a:rPr lang="en-IN" smtClean="0"/>
              <a:t>11-01-2026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B0E99-B46D-47B8-AB24-9157BD19A44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55854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AAF4-B881-47EE-B041-D38DE0F69021}" type="datetimeFigureOut">
              <a:rPr lang="en-IN" smtClean="0"/>
              <a:t>11-01-2026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B0E99-B46D-47B8-AB24-9157BD19A44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05701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AAF4-B881-47EE-B041-D38DE0F69021}" type="datetimeFigureOut">
              <a:rPr lang="en-IN" smtClean="0"/>
              <a:t>11-01-2026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B0E99-B46D-47B8-AB24-9157BD19A44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96325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AAF4-B881-47EE-B041-D38DE0F69021}" type="datetimeFigureOut">
              <a:rPr lang="en-IN" smtClean="0"/>
              <a:t>11-01-2026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B0E99-B46D-47B8-AB24-9157BD19A44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13510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AAF4-B881-47EE-B041-D38DE0F69021}" type="datetimeFigureOut">
              <a:rPr lang="en-IN" smtClean="0"/>
              <a:t>11-01-2026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B0E99-B46D-47B8-AB24-9157BD19A44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94874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AAF4-B881-47EE-B041-D38DE0F69021}" type="datetimeFigureOut">
              <a:rPr lang="en-IN" smtClean="0"/>
              <a:t>11-01-2026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B0E99-B46D-47B8-AB24-9157BD19A44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3939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AAF4-B881-47EE-B041-D38DE0F69021}" type="datetimeFigureOut">
              <a:rPr lang="en-IN" smtClean="0"/>
              <a:t>11-01-2026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B0E99-B46D-47B8-AB24-9157BD19A44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50907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AAF4-B881-47EE-B041-D38DE0F69021}" type="datetimeFigureOut">
              <a:rPr lang="en-IN" smtClean="0"/>
              <a:t>11-01-2026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B0E99-B46D-47B8-AB24-9157BD19A44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08571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AAF4-B881-47EE-B041-D38DE0F69021}" type="datetimeFigureOut">
              <a:rPr lang="en-IN" smtClean="0"/>
              <a:t>11-01-2026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B0E99-B46D-47B8-AB24-9157BD19A44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34438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AAF4-B881-47EE-B041-D38DE0F69021}" type="datetimeFigureOut">
              <a:rPr lang="en-IN" smtClean="0"/>
              <a:t>11-01-2026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B0E99-B46D-47B8-AB24-9157BD19A44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06416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>
        <p15:prstTrans prst="drap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AAF4-B881-47EE-B041-D38DE0F69021}" type="datetimeFigureOut">
              <a:rPr lang="en-IN" smtClean="0"/>
              <a:t>11-01-2026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B0E99-B46D-47B8-AB24-9157BD19A44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74905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>
        <p15:prstTrans prst="drap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4AAF4-B881-47EE-B041-D38DE0F69021}" type="datetimeFigureOut">
              <a:rPr lang="en-IN" smtClean="0"/>
              <a:t>11-01-2026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B0E99-B46D-47B8-AB24-9157BD19A44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6467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1" r:id="rId1"/>
    <p:sldLayoutId id="2147484102" r:id="rId2"/>
    <p:sldLayoutId id="2147484103" r:id="rId3"/>
    <p:sldLayoutId id="2147484104" r:id="rId4"/>
    <p:sldLayoutId id="2147484105" r:id="rId5"/>
    <p:sldLayoutId id="2147484106" r:id="rId6"/>
    <p:sldLayoutId id="2147484107" r:id="rId7"/>
    <p:sldLayoutId id="2147484108" r:id="rId8"/>
    <p:sldLayoutId id="2147484109" r:id="rId9"/>
    <p:sldLayoutId id="2147484110" r:id="rId10"/>
    <p:sldLayoutId id="2147484111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>
        <p15:prstTrans prst="drape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7C26EB-2A9D-F6E2-1907-86364624D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02331" y="4230707"/>
            <a:ext cx="3129565" cy="2189408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endParaRPr lang="en-IN" sz="1800" dirty="0">
              <a:solidFill>
                <a:schemeClr val="tx1"/>
              </a:solidFill>
            </a:endParaRPr>
          </a:p>
          <a:p>
            <a:pPr algn="ctr"/>
            <a:r>
              <a:rPr lang="en-IN" sz="1800" dirty="0">
                <a:solidFill>
                  <a:schemeClr val="tx1"/>
                </a:solidFill>
              </a:rPr>
              <a:t>Pragati Galinde</a:t>
            </a:r>
          </a:p>
          <a:p>
            <a:pPr algn="ctr"/>
            <a:endParaRPr lang="en-IN" sz="1800" dirty="0">
              <a:solidFill>
                <a:schemeClr val="tx1"/>
              </a:solidFill>
            </a:endParaRPr>
          </a:p>
          <a:p>
            <a:pPr algn="ctr"/>
            <a:r>
              <a:rPr lang="en-IN" sz="1800" dirty="0">
                <a:solidFill>
                  <a:schemeClr val="tx1"/>
                </a:solidFill>
              </a:rPr>
              <a:t> </a:t>
            </a:r>
            <a:endParaRPr lang="en-US" sz="1800" u="sng" dirty="0">
              <a:solidFill>
                <a:schemeClr val="tx1"/>
              </a:solidFill>
              <a:latin typeface="Franklin Gothic Medium Cond" panose="020B06060304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56" y="234357"/>
            <a:ext cx="1507499" cy="753750"/>
          </a:xfrm>
          <a:prstGeom prst="rect">
            <a:avLst/>
          </a:prstGeom>
          <a:noFill/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86857">
            <a:off x="-139647" y="12651"/>
            <a:ext cx="11368163" cy="533078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9092482" y="3522821"/>
            <a:ext cx="2349265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Group - </a:t>
            </a:r>
            <a:r>
              <a:rPr lang="en-US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480634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7F540-E28F-8B71-3FF0-911553FF1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6377" y="495322"/>
            <a:ext cx="8448541" cy="95999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ritannic Bold" panose="020B0903060703020204" pitchFamily="34" charset="0"/>
              </a:rPr>
              <a:t>PROJECT OBJECTIVES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136F88-A55C-F648-1FB3-14CD863682D2}"/>
              </a:ext>
            </a:extLst>
          </p:cNvPr>
          <p:cNvSpPr txBox="1"/>
          <p:nvPr/>
        </p:nvSpPr>
        <p:spPr>
          <a:xfrm>
            <a:off x="270456" y="2280958"/>
            <a:ext cx="11487955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To analyze </a:t>
            </a:r>
            <a:r>
              <a:rPr 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sales overview </a:t>
            </a:r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and </a:t>
            </a:r>
            <a:r>
              <a:rPr 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customer performance</a:t>
            </a:r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an production of a company within given year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We used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    MS-EXCEL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    MY-SQL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    for analyzing ,cleaning and removing duplicates from dataset.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Prepared dashboard using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    </a:t>
            </a:r>
            <a:r>
              <a:rPr 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TABLEAU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    POWER BI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    we did calculations, merging and prepared interactive dashboards.</a:t>
            </a:r>
            <a:endParaRPr lang="en-IN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56" y="234357"/>
            <a:ext cx="1507499" cy="753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202722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>
        <p15:prstTrans prst="drap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7892-E3FE-7598-D319-79BA911C2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2139" y="611232"/>
            <a:ext cx="6310650" cy="75375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ritannic Bold" panose="020B0903060703020204" pitchFamily="34" charset="0"/>
              </a:rPr>
              <a:t>TOOLS </a:t>
            </a:r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Britannic Bold" panose="020B0903060703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236446"/>
            <a:ext cx="4970172" cy="236911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387" y="4236446"/>
            <a:ext cx="3553227" cy="218660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287" y="2010931"/>
            <a:ext cx="3696327" cy="190527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10931"/>
            <a:ext cx="3402271" cy="190527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56" y="234357"/>
            <a:ext cx="1507499" cy="753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132637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>
        <p15:prstTrans prst="drap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CADD4-B3E8-5258-B383-9B2D4853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107" y="611232"/>
            <a:ext cx="7696200" cy="78109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ritannic Bold" panose="020B0903060703020204" pitchFamily="34" charset="0"/>
              </a:rPr>
              <a:t>Contents </a:t>
            </a:r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Britannic Bold" panose="020B09030607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A23F1-F9A8-9C94-380F-08416043E7F1}"/>
              </a:ext>
            </a:extLst>
          </p:cNvPr>
          <p:cNvSpPr txBox="1"/>
          <p:nvPr/>
        </p:nvSpPr>
        <p:spPr>
          <a:xfrm>
            <a:off x="680321" y="2237362"/>
            <a:ext cx="108177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v"/>
              <a:defRPr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r>
              <a:rPr lang="en-US" dirty="0"/>
              <a:t>KPI-1  :  Product Sales</a:t>
            </a:r>
          </a:p>
          <a:p>
            <a:endParaRPr lang="en-US" dirty="0"/>
          </a:p>
          <a:p>
            <a:r>
              <a:rPr lang="en-US" dirty="0"/>
              <a:t>KPI-2  : Customer Performance </a:t>
            </a:r>
          </a:p>
          <a:p>
            <a:endParaRPr lang="en-US" dirty="0"/>
          </a:p>
          <a:p>
            <a:r>
              <a:rPr lang="en-US" dirty="0"/>
              <a:t>KPI-3  : Sales and Production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56" y="234357"/>
            <a:ext cx="1507499" cy="753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398065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>
        <p15:prstTrans prst="drap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2F2734-E0BD-5A82-7F0B-E23DAD836597}"/>
              </a:ext>
            </a:extLst>
          </p:cNvPr>
          <p:cNvSpPr txBox="1"/>
          <p:nvPr/>
        </p:nvSpPr>
        <p:spPr>
          <a:xfrm>
            <a:off x="2604663" y="426425"/>
            <a:ext cx="6293658" cy="6887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ritannic Bold" panose="020B0903060703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Product sales types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D2B476-C361-B1A9-9465-2A85901111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DAE3F3"/>
              </a:clrFrom>
              <a:clrTo>
                <a:srgbClr val="DAE3F3">
                  <a:alpha val="0"/>
                </a:srgbClr>
              </a:clrTo>
            </a:clrChange>
            <a:grayscl/>
          </a:blip>
          <a:srcRect l="4657" t="2358" r="6647" b="2453"/>
          <a:stretch/>
        </p:blipFill>
        <p:spPr>
          <a:xfrm>
            <a:off x="8352962" y="1578918"/>
            <a:ext cx="3503054" cy="24083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F081C7-66F6-6BAC-5A94-05C38DA2A2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DAE3F3"/>
              </a:clrFrom>
              <a:clrTo>
                <a:srgbClr val="DAE3F3">
                  <a:alpha val="0"/>
                </a:srgbClr>
              </a:clrTo>
            </a:clrChange>
            <a:grayscl/>
          </a:blip>
          <a:srcRect l="3952" t="3405" r="4612" b="3003"/>
          <a:stretch/>
        </p:blipFill>
        <p:spPr>
          <a:xfrm>
            <a:off x="5751492" y="1656796"/>
            <a:ext cx="2384359" cy="24083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57572D-5E70-AF7D-7A0D-D5C66BF1E97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DAE3F3"/>
              </a:clrFrom>
              <a:clrTo>
                <a:srgbClr val="DAE3F3">
                  <a:alpha val="0"/>
                </a:srgbClr>
              </a:clrTo>
            </a:clrChange>
            <a:grayscl/>
          </a:blip>
          <a:stretch>
            <a:fillRect/>
          </a:stretch>
        </p:blipFill>
        <p:spPr>
          <a:xfrm>
            <a:off x="5006284" y="4229844"/>
            <a:ext cx="6693355" cy="255027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C32270-31C1-34ED-E4D8-C777289E7055}"/>
              </a:ext>
            </a:extLst>
          </p:cNvPr>
          <p:cNvSpPr txBox="1"/>
          <p:nvPr/>
        </p:nvSpPr>
        <p:spPr>
          <a:xfrm>
            <a:off x="371432" y="2071358"/>
            <a:ext cx="4114127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v"/>
              <a:defRPr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r>
              <a:rPr lang="en-US" dirty="0"/>
              <a:t>It is observe that there are price above $1000 is 88% is expensive and the sales is $25.8M. </a:t>
            </a:r>
          </a:p>
          <a:p>
            <a:r>
              <a:rPr lang="en-US" dirty="0"/>
              <a:t>   AND PRICE BELOW $1000</a:t>
            </a:r>
            <a:r>
              <a:rPr lang="en-IN" dirty="0"/>
              <a:t> IS 12% ONLY ITS LESS EXPENSIVE AND THE SALES $3.5M.</a:t>
            </a:r>
          </a:p>
          <a:p>
            <a:endParaRPr lang="en-IN" dirty="0"/>
          </a:p>
          <a:p>
            <a:r>
              <a:rPr lang="en-IN" dirty="0"/>
              <a:t>The top 5 sale products are 27.5% and others are 72.5%.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56" y="234357"/>
            <a:ext cx="1507499" cy="753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276556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>
        <p15:prstTrans prst="drap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70CF90-3C0C-13B5-AE5B-0A20D8FF28D0}"/>
              </a:ext>
            </a:extLst>
          </p:cNvPr>
          <p:cNvSpPr txBox="1"/>
          <p:nvPr/>
        </p:nvSpPr>
        <p:spPr>
          <a:xfrm>
            <a:off x="1777955" y="486689"/>
            <a:ext cx="8496221" cy="741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ritannic Bold" panose="020B0903060703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Customer performance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961B20-2EA2-F797-36B3-F7777BC94B5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EAEAEA"/>
              </a:clrFrom>
              <a:clrTo>
                <a:srgbClr val="EAEAEA">
                  <a:alpha val="0"/>
                </a:srgbClr>
              </a:clrTo>
            </a:clrChange>
          </a:blip>
          <a:srcRect l="2384" r="2136" b="7443"/>
          <a:stretch/>
        </p:blipFill>
        <p:spPr>
          <a:xfrm>
            <a:off x="5898524" y="1706220"/>
            <a:ext cx="6194391" cy="29299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991C31-133F-F2D4-443C-CD6368C046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EAEAEA"/>
              </a:clrFrom>
              <a:clrTo>
                <a:srgbClr val="EAEAEA">
                  <a:alpha val="0"/>
                </a:srgbClr>
              </a:clrTo>
            </a:clrChange>
          </a:blip>
          <a:srcRect l="5389" r="3540" b="9520"/>
          <a:stretch/>
        </p:blipFill>
        <p:spPr>
          <a:xfrm>
            <a:off x="7854675" y="4636216"/>
            <a:ext cx="2239617" cy="21563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C2D97F-DDEE-11EE-0631-15355EA14648}"/>
              </a:ext>
            </a:extLst>
          </p:cNvPr>
          <p:cNvSpPr txBox="1"/>
          <p:nvPr/>
        </p:nvSpPr>
        <p:spPr>
          <a:xfrm>
            <a:off x="270456" y="1944710"/>
            <a:ext cx="558559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v"/>
              <a:defRPr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r>
              <a:rPr lang="en-IN" dirty="0"/>
              <a:t>Adventure work project shows the revenue segment by age group under 100% of revenue is attributed to the </a:t>
            </a:r>
            <a:r>
              <a:rPr lang="en-IN" b="1" dirty="0"/>
              <a:t>Yellow bars</a:t>
            </a:r>
            <a:r>
              <a:rPr lang="en-IN" dirty="0"/>
              <a:t>.</a:t>
            </a:r>
          </a:p>
          <a:p>
            <a:r>
              <a:rPr lang="en-IN" dirty="0"/>
              <a:t>Primary led by the </a:t>
            </a:r>
            <a:r>
              <a:rPr lang="en-IN" b="1" dirty="0"/>
              <a:t>41-50 age </a:t>
            </a:r>
            <a:r>
              <a:rPr lang="en-IN" dirty="0"/>
              <a:t>–group surpassing the average revenue line.</a:t>
            </a:r>
          </a:p>
          <a:p>
            <a:r>
              <a:rPr lang="en-IN" dirty="0"/>
              <a:t>The earning based on </a:t>
            </a:r>
            <a:r>
              <a:rPr lang="en-IN" b="1" dirty="0"/>
              <a:t>gender</a:t>
            </a:r>
            <a:r>
              <a:rPr lang="en-IN" dirty="0"/>
              <a:t> chart shows that under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b="1" dirty="0"/>
              <a:t>Male</a:t>
            </a:r>
            <a:r>
              <a:rPr lang="en-IN" dirty="0"/>
              <a:t> group </a:t>
            </a:r>
            <a:r>
              <a:rPr lang="en-IN" b="1" dirty="0"/>
              <a:t>49.54%</a:t>
            </a:r>
            <a:r>
              <a:rPr lang="en-IN" dirty="0"/>
              <a:t> with revenue </a:t>
            </a:r>
            <a:r>
              <a:rPr lang="en-IN" b="1" dirty="0"/>
              <a:t>$14.55M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b="1" dirty="0"/>
              <a:t>Female</a:t>
            </a:r>
            <a:r>
              <a:rPr lang="en-IN" dirty="0"/>
              <a:t> is </a:t>
            </a:r>
            <a:r>
              <a:rPr lang="en-IN" b="1" dirty="0"/>
              <a:t>50.46%</a:t>
            </a:r>
            <a:r>
              <a:rPr lang="en-IN" dirty="0"/>
              <a:t> with revenue </a:t>
            </a:r>
            <a:r>
              <a:rPr lang="en-IN" b="1" dirty="0"/>
              <a:t>15M</a:t>
            </a:r>
          </a:p>
          <a:p>
            <a:r>
              <a:rPr lang="en-IN" dirty="0"/>
              <a:t>The percentage of female is </a:t>
            </a:r>
            <a:r>
              <a:rPr lang="en-IN" b="1" dirty="0"/>
              <a:t>HIGH</a:t>
            </a:r>
            <a:r>
              <a:rPr lang="en-IN" dirty="0"/>
              <a:t> in nature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56" y="234357"/>
            <a:ext cx="1507499" cy="753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887344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>
        <p15:prstTrans prst="drap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975560-8919-4791-71EB-761545242E21}"/>
              </a:ext>
            </a:extLst>
          </p:cNvPr>
          <p:cNvSpPr txBox="1"/>
          <p:nvPr/>
        </p:nvSpPr>
        <p:spPr>
          <a:xfrm>
            <a:off x="2125013" y="234357"/>
            <a:ext cx="7744845" cy="8696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ritannic Bold" panose="020B0903060703020204" pitchFamily="34" charset="0"/>
                <a:ea typeface="+mj-ea"/>
                <a:cs typeface="+mj-cs"/>
              </a:defRPr>
            </a:lvl1pPr>
          </a:lstStyle>
          <a:p>
            <a:r>
              <a:rPr lang="en-IN" dirty="0"/>
              <a:t>Sales and production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5CF668-99EA-E876-338D-65F5916E12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666666"/>
              </a:clrFrom>
              <a:clrTo>
                <a:srgbClr val="666666">
                  <a:alpha val="0"/>
                </a:srgbClr>
              </a:clrTo>
            </a:clrChange>
            <a:grayscl/>
          </a:blip>
          <a:srcRect l="1693" t="3786" r="6411" b="2281"/>
          <a:stretch/>
        </p:blipFill>
        <p:spPr>
          <a:xfrm>
            <a:off x="10244839" y="1437459"/>
            <a:ext cx="1722784" cy="51683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EA76B6-C3B6-E3F6-E8FD-1D1D56DB08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666666"/>
              </a:clrFrom>
              <a:clrTo>
                <a:srgbClr val="666666">
                  <a:alpha val="0"/>
                </a:srgbClr>
              </a:clrTo>
            </a:clrChange>
            <a:grayscl/>
          </a:blip>
          <a:srcRect l="1291" t="1315" r="837" b="2763"/>
          <a:stretch/>
        </p:blipFill>
        <p:spPr>
          <a:xfrm>
            <a:off x="5227337" y="1942992"/>
            <a:ext cx="4770782" cy="3649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6CBE20-F706-0548-AEEB-C5663857AD07}"/>
              </a:ext>
            </a:extLst>
          </p:cNvPr>
          <p:cNvSpPr txBox="1"/>
          <p:nvPr/>
        </p:nvSpPr>
        <p:spPr>
          <a:xfrm>
            <a:off x="270456" y="1942992"/>
            <a:ext cx="4710161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v"/>
              <a:defRPr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r>
              <a:rPr lang="en-IN" dirty="0"/>
              <a:t>The </a:t>
            </a:r>
            <a:r>
              <a:rPr lang="en-IN" b="1" dirty="0"/>
              <a:t>sales amount </a:t>
            </a:r>
            <a:r>
              <a:rPr lang="en-IN" dirty="0"/>
              <a:t>and </a:t>
            </a:r>
            <a:r>
              <a:rPr lang="en-IN" b="1" dirty="0"/>
              <a:t>production cost </a:t>
            </a:r>
            <a:r>
              <a:rPr lang="en-IN" dirty="0"/>
              <a:t>by month chart shows that the month of order date </a:t>
            </a:r>
            <a:r>
              <a:rPr lang="en-IN" b="1" dirty="0"/>
              <a:t>June and December </a:t>
            </a:r>
            <a:r>
              <a:rPr lang="en-IN" dirty="0"/>
              <a:t>sales amount is </a:t>
            </a:r>
            <a:r>
              <a:rPr lang="en-IN" b="1" dirty="0"/>
              <a:t>high</a:t>
            </a:r>
            <a:r>
              <a:rPr lang="en-IN" dirty="0"/>
              <a:t> other are balanced in nature.</a:t>
            </a:r>
          </a:p>
          <a:p>
            <a:r>
              <a:rPr lang="en-IN" dirty="0"/>
              <a:t>The adventure works sales and production are the total profit is </a:t>
            </a:r>
            <a:r>
              <a:rPr lang="en-IN" b="1" dirty="0"/>
              <a:t>9.0M</a:t>
            </a:r>
            <a:endParaRPr lang="en-IN" dirty="0"/>
          </a:p>
          <a:p>
            <a:r>
              <a:rPr lang="en-IN" dirty="0"/>
              <a:t>total customers </a:t>
            </a:r>
            <a:r>
              <a:rPr lang="en-IN" b="1" dirty="0"/>
              <a:t>18.4K</a:t>
            </a:r>
            <a:endParaRPr lang="en-IN" dirty="0"/>
          </a:p>
          <a:p>
            <a:r>
              <a:rPr lang="en-IN" dirty="0"/>
              <a:t>total sales </a:t>
            </a:r>
            <a:r>
              <a:rPr lang="en-IN" b="1" dirty="0"/>
              <a:t>29.4M</a:t>
            </a:r>
            <a:endParaRPr lang="en-IN" dirty="0"/>
          </a:p>
          <a:p>
            <a:r>
              <a:rPr lang="en-IN" dirty="0"/>
              <a:t>total orders </a:t>
            </a:r>
            <a:r>
              <a:rPr lang="en-IN" b="1" dirty="0"/>
              <a:t>60.4K</a:t>
            </a:r>
          </a:p>
          <a:p>
            <a:r>
              <a:rPr lang="en-IN" dirty="0"/>
              <a:t>total production cost </a:t>
            </a:r>
            <a:r>
              <a:rPr lang="en-IN" b="1" dirty="0"/>
              <a:t>17.28M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56" y="234357"/>
            <a:ext cx="1507499" cy="753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972784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>
        <p15:prstTrans prst="drap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EE5AD-38C7-BD55-CFB2-36BF3B5AB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138" y="383537"/>
            <a:ext cx="7155177" cy="75911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b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ritannic Bold" panose="020B0903060703020204" pitchFamily="34" charset="0"/>
              </a:rPr>
            </a:b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ritannic Bold" panose="020B0903060703020204" pitchFamily="34" charset="0"/>
              </a:rPr>
              <a:t>EXCEL Dashboard</a:t>
            </a:r>
            <a:b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ritannic Bold" panose="020B0903060703020204" pitchFamily="34" charset="0"/>
              </a:rPr>
            </a:br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Britannic Bold" panose="020B0903060703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38BAD9-388E-F89F-4E4F-F1AB87C883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012" y="1598653"/>
            <a:ext cx="6324313" cy="455011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2853B6-DFE3-F295-F1C9-7BACE0910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325" y="1598653"/>
            <a:ext cx="5631711" cy="455011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56" y="234357"/>
            <a:ext cx="1507499" cy="753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75601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16071-7870-1D15-418C-FB9165C9D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561" y="275531"/>
            <a:ext cx="7670442" cy="77869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ritannic Bold" panose="020B0903060703020204" pitchFamily="34" charset="0"/>
              </a:rPr>
              <a:t>TABLEAU Dashboard </a:t>
            </a:r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Britannic Bold" panose="020B0903060703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D87C54-1476-D38F-B6CB-48980A45A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51" t="1238" r="561"/>
          <a:stretch/>
        </p:blipFill>
        <p:spPr>
          <a:xfrm>
            <a:off x="643943" y="1534978"/>
            <a:ext cx="10904113" cy="5249339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56" y="234357"/>
            <a:ext cx="1507499" cy="753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6728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36655-F6FC-8295-6C26-39036BB7E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7741" y="234357"/>
            <a:ext cx="8137694" cy="8788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ritannic Bold" panose="020B0903060703020204" pitchFamily="34" charset="0"/>
              </a:rPr>
              <a:t>POWER BI Dashboard </a:t>
            </a:r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Britannic Bold" panose="020B0903060703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68C9A0-5B98-1CBB-A288-BC869833BB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455" y="1841679"/>
            <a:ext cx="6546383" cy="479094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D281DB-144C-6D9E-261B-6B1E704DC2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73" t="1375" r="306" b="2436"/>
          <a:stretch/>
        </p:blipFill>
        <p:spPr>
          <a:xfrm>
            <a:off x="6905714" y="1841679"/>
            <a:ext cx="5136032" cy="47909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56" y="234357"/>
            <a:ext cx="1507499" cy="753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48594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CD1C3-CE46-9A64-489B-789321EDF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7443" y="262652"/>
            <a:ext cx="7135230" cy="10527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ritannic Bold" panose="020B0903060703020204" pitchFamily="34" charset="0"/>
              </a:rPr>
              <a:t>MYSQL Works</a:t>
            </a:r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Britannic Bold" panose="020B0903060703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56" y="234357"/>
            <a:ext cx="1507499" cy="753750"/>
          </a:xfrm>
          <a:prstGeom prst="rect">
            <a:avLst/>
          </a:prstGeom>
          <a:noFill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98" y="1725769"/>
            <a:ext cx="7395252" cy="471366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100" y="1725768"/>
            <a:ext cx="7106648" cy="471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289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36680-35EA-7B56-B965-2591006C2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983" y="378005"/>
            <a:ext cx="8134082" cy="74245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ritannic Bold" panose="020B0903060703020204" pitchFamily="34" charset="0"/>
              </a:rPr>
              <a:t>Challenges Faced</a:t>
            </a:r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Britannic Bold" panose="020B0903060703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8B8EC0-5165-D4B3-008E-BD2C8162B4A2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308043" y="1937366"/>
            <a:ext cx="11575914" cy="45110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56" y="234357"/>
            <a:ext cx="1507499" cy="753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763366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>
        <p15:prstTrans prst="drap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010E9-3334-6403-72AA-13F82402F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7594" y="519672"/>
            <a:ext cx="6807558" cy="6229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b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ritannic Bold" panose="020B0903060703020204" pitchFamily="34" charset="0"/>
              </a:rPr>
            </a:br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ritannic Bold" panose="020B0903060703020204" pitchFamily="34" charset="0"/>
              </a:rPr>
              <a:t>Outcome of the Project</a:t>
            </a:r>
            <a:b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ritannic Bold" panose="020B0903060703020204" pitchFamily="34" charset="0"/>
              </a:rPr>
            </a:br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Britannic Bold" panose="020B0903060703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16A776-6B72-1CFA-871D-C9C797927552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042686" y="1937366"/>
            <a:ext cx="10311114" cy="46880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56" y="234357"/>
            <a:ext cx="1507499" cy="753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304556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>
        <p15:prstTrans prst="drap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7614"/>
            <a:ext cx="12312203" cy="69256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56" y="234357"/>
            <a:ext cx="1507499" cy="753750"/>
          </a:xfrm>
          <a:prstGeom prst="rect">
            <a:avLst/>
          </a:prstGeom>
          <a:noFill/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228" t="4325" r="11397" b="76782"/>
          <a:stretch/>
        </p:blipFill>
        <p:spPr>
          <a:xfrm>
            <a:off x="7688687" y="4146997"/>
            <a:ext cx="3940936" cy="45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204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625</TotalTime>
  <Words>279</Words>
  <Application>Microsoft Office PowerPoint</Application>
  <PresentationFormat>Widescreen</PresentationFormat>
  <Paragraphs>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Malgun Gothic</vt:lpstr>
      <vt:lpstr>Arial</vt:lpstr>
      <vt:lpstr>Britannic Bold</vt:lpstr>
      <vt:lpstr>Calibri</vt:lpstr>
      <vt:lpstr>Calibri Light</vt:lpstr>
      <vt:lpstr>Franklin Gothic Medium Cond</vt:lpstr>
      <vt:lpstr>Wingdings</vt:lpstr>
      <vt:lpstr>Office Theme</vt:lpstr>
      <vt:lpstr>PowerPoint Presentation</vt:lpstr>
      <vt:lpstr>PROJECT OBJECTIVES</vt:lpstr>
      <vt:lpstr>TOOLS </vt:lpstr>
      <vt:lpstr>Contents </vt:lpstr>
      <vt:lpstr>PowerPoint Presentation</vt:lpstr>
      <vt:lpstr>PowerPoint Presentation</vt:lpstr>
      <vt:lpstr>PowerPoint Presentation</vt:lpstr>
      <vt:lpstr> EXCEL Dashboard </vt:lpstr>
      <vt:lpstr>TABLEAU Dashboard </vt:lpstr>
      <vt:lpstr>POWER BI Dashboard </vt:lpstr>
      <vt:lpstr>MYSQL Works</vt:lpstr>
      <vt:lpstr>Challenges Faced</vt:lpstr>
      <vt:lpstr> Outcome of the Project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Adventure work’s</dc:title>
  <dc:creator>pragalinde@gmail.com</dc:creator>
  <cp:lastModifiedBy>Pragati Galinde</cp:lastModifiedBy>
  <cp:revision>29</cp:revision>
  <dcterms:created xsi:type="dcterms:W3CDTF">2024-04-24T09:15:43Z</dcterms:created>
  <dcterms:modified xsi:type="dcterms:W3CDTF">2026-01-11T11:11:02Z</dcterms:modified>
</cp:coreProperties>
</file>